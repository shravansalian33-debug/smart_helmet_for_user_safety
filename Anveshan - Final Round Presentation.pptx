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 Bold" panose="020B0604020202020204" charset="0"/>
      <p:regular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9130" y="1076794"/>
            <a:ext cx="4460170" cy="1064866"/>
          </a:xfrm>
          <a:custGeom>
            <a:avLst/>
            <a:gdLst/>
            <a:ahLst/>
            <a:cxnLst/>
            <a:rect l="l" t="t" r="r" b="b"/>
            <a:pathLst>
              <a:path w="4460170" h="1064866">
                <a:moveTo>
                  <a:pt x="0" y="0"/>
                </a:moveTo>
                <a:lnTo>
                  <a:pt x="4460170" y="0"/>
                </a:lnTo>
                <a:lnTo>
                  <a:pt x="4460170" y="1064866"/>
                </a:lnTo>
                <a:lnTo>
                  <a:pt x="0" y="1064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15911"/>
            <a:ext cx="3688347" cy="986633"/>
          </a:xfrm>
          <a:custGeom>
            <a:avLst/>
            <a:gdLst/>
            <a:ahLst/>
            <a:cxnLst/>
            <a:rect l="l" t="t" r="r" b="b"/>
            <a:pathLst>
              <a:path w="3688347" h="986633">
                <a:moveTo>
                  <a:pt x="0" y="0"/>
                </a:moveTo>
                <a:lnTo>
                  <a:pt x="3688347" y="0"/>
                </a:lnTo>
                <a:lnTo>
                  <a:pt x="3688347" y="986633"/>
                </a:lnTo>
                <a:lnTo>
                  <a:pt x="0" y="98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572673" y="3375827"/>
            <a:ext cx="11142655" cy="3535346"/>
          </a:xfrm>
          <a:custGeom>
            <a:avLst/>
            <a:gdLst/>
            <a:ahLst/>
            <a:cxnLst/>
            <a:rect l="l" t="t" r="r" b="b"/>
            <a:pathLst>
              <a:path w="11142655" h="3535346">
                <a:moveTo>
                  <a:pt x="0" y="0"/>
                </a:moveTo>
                <a:lnTo>
                  <a:pt x="11142654" y="0"/>
                </a:lnTo>
                <a:lnTo>
                  <a:pt x="11142654" y="3535346"/>
                </a:lnTo>
                <a:lnTo>
                  <a:pt x="0" y="3535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25" t="-67616" r="-3797" b="-59639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9130" y="1076794"/>
            <a:ext cx="4460170" cy="1064866"/>
          </a:xfrm>
          <a:custGeom>
            <a:avLst/>
            <a:gdLst/>
            <a:ahLst/>
            <a:cxnLst/>
            <a:rect l="l" t="t" r="r" b="b"/>
            <a:pathLst>
              <a:path w="4460170" h="1064866">
                <a:moveTo>
                  <a:pt x="0" y="0"/>
                </a:moveTo>
                <a:lnTo>
                  <a:pt x="4460170" y="0"/>
                </a:lnTo>
                <a:lnTo>
                  <a:pt x="4460170" y="1064866"/>
                </a:lnTo>
                <a:lnTo>
                  <a:pt x="0" y="1064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15911"/>
            <a:ext cx="3688347" cy="986633"/>
          </a:xfrm>
          <a:custGeom>
            <a:avLst/>
            <a:gdLst/>
            <a:ahLst/>
            <a:cxnLst/>
            <a:rect l="l" t="t" r="r" b="b"/>
            <a:pathLst>
              <a:path w="3688347" h="986633">
                <a:moveTo>
                  <a:pt x="0" y="0"/>
                </a:moveTo>
                <a:lnTo>
                  <a:pt x="3688347" y="0"/>
                </a:lnTo>
                <a:lnTo>
                  <a:pt x="3688347" y="986633"/>
                </a:lnTo>
                <a:lnTo>
                  <a:pt x="0" y="98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48400" y="2017835"/>
            <a:ext cx="5485368" cy="111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Details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1119" y="4785072"/>
            <a:ext cx="404368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10200" y="5820662"/>
            <a:ext cx="383825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Track: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7299" y="7004747"/>
            <a:ext cx="66675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F43F73-A222-8C75-6E1E-39670A486C7A}"/>
              </a:ext>
            </a:extLst>
          </p:cNvPr>
          <p:cNvSpPr txBox="1"/>
          <p:nvPr/>
        </p:nvSpPr>
        <p:spPr>
          <a:xfrm>
            <a:off x="8287603" y="4785072"/>
            <a:ext cx="5181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 err="1">
                <a:solidFill>
                  <a:schemeClr val="bg1"/>
                </a:solidFill>
              </a:rPr>
              <a:t>BitBusters</a:t>
            </a:r>
            <a:endParaRPr lang="en-IN" sz="5400" dirty="0">
              <a:solidFill>
                <a:schemeClr val="bg1"/>
              </a:solidFill>
            </a:endParaRPr>
          </a:p>
          <a:p>
            <a:endParaRPr lang="en-IN" sz="5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DCF85-43B8-E7D7-B7AC-4984553EF627}"/>
              </a:ext>
            </a:extLst>
          </p:cNvPr>
          <p:cNvSpPr txBox="1"/>
          <p:nvPr/>
        </p:nvSpPr>
        <p:spPr>
          <a:xfrm>
            <a:off x="8283054" y="5850801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Hardware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09123-B801-E4D9-85BF-8CCAE90ECE8C}"/>
              </a:ext>
            </a:extLst>
          </p:cNvPr>
          <p:cNvSpPr txBox="1"/>
          <p:nvPr/>
        </p:nvSpPr>
        <p:spPr>
          <a:xfrm>
            <a:off x="7848600" y="6974997"/>
            <a:ext cx="8982501" cy="2669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25401">
              <a:lnSpc>
                <a:spcPts val="6839"/>
              </a:lnSpc>
            </a:pPr>
            <a:r>
              <a:rPr lang="en-US" sz="44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Two-wheeler accidents account for a major share of road fatalities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9130" y="1076794"/>
            <a:ext cx="4460170" cy="1064866"/>
          </a:xfrm>
          <a:custGeom>
            <a:avLst/>
            <a:gdLst/>
            <a:ahLst/>
            <a:cxnLst/>
            <a:rect l="l" t="t" r="r" b="b"/>
            <a:pathLst>
              <a:path w="4460170" h="1064866">
                <a:moveTo>
                  <a:pt x="0" y="0"/>
                </a:moveTo>
                <a:lnTo>
                  <a:pt x="4460170" y="0"/>
                </a:lnTo>
                <a:lnTo>
                  <a:pt x="4460170" y="1064866"/>
                </a:lnTo>
                <a:lnTo>
                  <a:pt x="0" y="1064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15911"/>
            <a:ext cx="3688347" cy="986633"/>
          </a:xfrm>
          <a:custGeom>
            <a:avLst/>
            <a:gdLst/>
            <a:ahLst/>
            <a:cxnLst/>
            <a:rect l="l" t="t" r="r" b="b"/>
            <a:pathLst>
              <a:path w="3688347" h="986633">
                <a:moveTo>
                  <a:pt x="0" y="0"/>
                </a:moveTo>
                <a:lnTo>
                  <a:pt x="3688347" y="0"/>
                </a:lnTo>
                <a:lnTo>
                  <a:pt x="3688347" y="986633"/>
                </a:lnTo>
                <a:lnTo>
                  <a:pt x="0" y="98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96001" y="2017835"/>
            <a:ext cx="5642292" cy="111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A2B27-FACB-6F1B-A33B-EE293A676A50}"/>
              </a:ext>
            </a:extLst>
          </p:cNvPr>
          <p:cNvSpPr txBox="1"/>
          <p:nvPr/>
        </p:nvSpPr>
        <p:spPr>
          <a:xfrm>
            <a:off x="1295400" y="3924300"/>
            <a:ext cx="14397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Alcohol Detection (via MQ-3 sensor)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Drowsiness Detection (via IR sensor)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Helmet Wear Detection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Theft Prevention using RF communication</a:t>
            </a:r>
          </a:p>
          <a:p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dirty="0">
                <a:solidFill>
                  <a:schemeClr val="bg1"/>
                </a:solidFill>
              </a:rPr>
              <a:t>Concept : Helmet acts as a transmitter bike ignition is enabled only when the rider is safe to drive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9130" y="1076794"/>
            <a:ext cx="4460170" cy="1064866"/>
          </a:xfrm>
          <a:custGeom>
            <a:avLst/>
            <a:gdLst/>
            <a:ahLst/>
            <a:cxnLst/>
            <a:rect l="l" t="t" r="r" b="b"/>
            <a:pathLst>
              <a:path w="4460170" h="1064866">
                <a:moveTo>
                  <a:pt x="0" y="0"/>
                </a:moveTo>
                <a:lnTo>
                  <a:pt x="4460170" y="0"/>
                </a:lnTo>
                <a:lnTo>
                  <a:pt x="4460170" y="1064866"/>
                </a:lnTo>
                <a:lnTo>
                  <a:pt x="0" y="1064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15911"/>
            <a:ext cx="3688347" cy="986633"/>
          </a:xfrm>
          <a:custGeom>
            <a:avLst/>
            <a:gdLst/>
            <a:ahLst/>
            <a:cxnLst/>
            <a:rect l="l" t="t" r="r" b="b"/>
            <a:pathLst>
              <a:path w="3688347" h="986633">
                <a:moveTo>
                  <a:pt x="0" y="0"/>
                </a:moveTo>
                <a:lnTo>
                  <a:pt x="3688347" y="0"/>
                </a:lnTo>
                <a:lnTo>
                  <a:pt x="3688347" y="986633"/>
                </a:lnTo>
                <a:lnTo>
                  <a:pt x="0" y="98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48401" y="2017835"/>
            <a:ext cx="5052218" cy="111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95945-6C73-4C7A-B71E-219B7EE92EA2}"/>
              </a:ext>
            </a:extLst>
          </p:cNvPr>
          <p:cNvSpPr txBox="1"/>
          <p:nvPr/>
        </p:nvSpPr>
        <p:spPr>
          <a:xfrm>
            <a:off x="1752600" y="3322500"/>
            <a:ext cx="11467531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Hardware:</a:t>
            </a: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Arduino Uno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RF Transmitter &amp; Receiver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Sensors(2 IR Sensors and 1MQ3 Sensor)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Buzzers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LCD display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b="1" dirty="0">
                <a:solidFill>
                  <a:schemeClr val="bg1"/>
                </a:solidFill>
              </a:rPr>
              <a:t>Software:</a:t>
            </a: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Arduino 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C++ (Programming code language)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r>
              <a:rPr lang="en-IN" sz="3200" b="1" dirty="0">
                <a:solidFill>
                  <a:schemeClr val="bg1"/>
                </a:solidFill>
              </a:rPr>
              <a:t>Communication:</a:t>
            </a: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RF Module (433 MHz)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9130" y="1076794"/>
            <a:ext cx="4460170" cy="1064866"/>
          </a:xfrm>
          <a:custGeom>
            <a:avLst/>
            <a:gdLst/>
            <a:ahLst/>
            <a:cxnLst/>
            <a:rect l="l" t="t" r="r" b="b"/>
            <a:pathLst>
              <a:path w="4460170" h="1064866">
                <a:moveTo>
                  <a:pt x="0" y="0"/>
                </a:moveTo>
                <a:lnTo>
                  <a:pt x="4460170" y="0"/>
                </a:lnTo>
                <a:lnTo>
                  <a:pt x="4460170" y="1064866"/>
                </a:lnTo>
                <a:lnTo>
                  <a:pt x="0" y="1064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15911"/>
            <a:ext cx="3688347" cy="986633"/>
          </a:xfrm>
          <a:custGeom>
            <a:avLst/>
            <a:gdLst/>
            <a:ahLst/>
            <a:cxnLst/>
            <a:rect l="l" t="t" r="r" b="b"/>
            <a:pathLst>
              <a:path w="3688347" h="986633">
                <a:moveTo>
                  <a:pt x="0" y="0"/>
                </a:moveTo>
                <a:lnTo>
                  <a:pt x="3688347" y="0"/>
                </a:lnTo>
                <a:lnTo>
                  <a:pt x="3688347" y="986633"/>
                </a:lnTo>
                <a:lnTo>
                  <a:pt x="0" y="98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29401" y="2017835"/>
            <a:ext cx="4638198" cy="111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36682-2FBC-DFDF-5C9F-D77CFD8982CC}"/>
              </a:ext>
            </a:extLst>
          </p:cNvPr>
          <p:cNvSpPr txBox="1"/>
          <p:nvPr/>
        </p:nvSpPr>
        <p:spPr>
          <a:xfrm>
            <a:off x="1828800" y="3854694"/>
            <a:ext cx="112776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Hardware can be upgraded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Supports other sensors crash and temp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We can upgrade from RF module to </a:t>
            </a:r>
            <a:r>
              <a:rPr lang="en-IN" sz="3200" dirty="0" err="1">
                <a:solidFill>
                  <a:schemeClr val="bg1"/>
                </a:solidFill>
              </a:rPr>
              <a:t>sacle</a:t>
            </a:r>
            <a:r>
              <a:rPr lang="en-IN" sz="3200" dirty="0">
                <a:solidFill>
                  <a:schemeClr val="bg1"/>
                </a:solidFill>
              </a:rPr>
              <a:t> to LoRa or </a:t>
            </a:r>
            <a:r>
              <a:rPr lang="en-IN" sz="3200" dirty="0" err="1">
                <a:solidFill>
                  <a:schemeClr val="bg1"/>
                </a:solidFill>
              </a:rPr>
              <a:t>Wifi</a:t>
            </a: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It is supported to multiple helmets and vehicles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It can be mass produced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We can convert it to PCB for production</a:t>
            </a:r>
          </a:p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0BBF60D-BFC8-8457-E766-110EA6C6A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and upgradable hardware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additional sensors (GPS, crash, temp,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can scale: RF → LoRa / WiFi / GSM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&amp; mobile app integration possible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support multiple helmets and vehicles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mass deployment &amp; industries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Convertible to PCB for production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F4E298C-CA35-D1B5-BA36-D0BB3267F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and upgradable hardware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additional sensors (GPS, crash, temp,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can scale: RF → LoRa / WiFi / GSM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&amp; mobile app integration possible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support multiple helmets and vehicles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mass deployment &amp; industries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Convertible to PCB for production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854C007-817F-6522-AA10-FB81C6EFD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and upgradable hardware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additional sensors (GPS, crash, temp,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can scale: RF → LoRa / WiFi / GSM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&amp; mobile app integration possible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support multiple helmets and vehicles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mass deployment &amp; industries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Convertible to PCB for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9130" y="1076794"/>
            <a:ext cx="4460170" cy="1064866"/>
          </a:xfrm>
          <a:custGeom>
            <a:avLst/>
            <a:gdLst/>
            <a:ahLst/>
            <a:cxnLst/>
            <a:rect l="l" t="t" r="r" b="b"/>
            <a:pathLst>
              <a:path w="4460170" h="1064866">
                <a:moveTo>
                  <a:pt x="0" y="0"/>
                </a:moveTo>
                <a:lnTo>
                  <a:pt x="4460170" y="0"/>
                </a:lnTo>
                <a:lnTo>
                  <a:pt x="4460170" y="1064866"/>
                </a:lnTo>
                <a:lnTo>
                  <a:pt x="0" y="1064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15911"/>
            <a:ext cx="3688347" cy="986633"/>
          </a:xfrm>
          <a:custGeom>
            <a:avLst/>
            <a:gdLst/>
            <a:ahLst/>
            <a:cxnLst/>
            <a:rect l="l" t="t" r="r" b="b"/>
            <a:pathLst>
              <a:path w="3688347" h="986633">
                <a:moveTo>
                  <a:pt x="0" y="0"/>
                </a:moveTo>
                <a:lnTo>
                  <a:pt x="3688347" y="0"/>
                </a:lnTo>
                <a:lnTo>
                  <a:pt x="3688347" y="986633"/>
                </a:lnTo>
                <a:lnTo>
                  <a:pt x="0" y="98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86601" y="2017835"/>
            <a:ext cx="3903662" cy="111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68D46-0683-3BCB-E96C-F5DA428D0A82}"/>
              </a:ext>
            </a:extLst>
          </p:cNvPr>
          <p:cNvSpPr txBox="1"/>
          <p:nvPr/>
        </p:nvSpPr>
        <p:spPr>
          <a:xfrm>
            <a:off x="1752600" y="3619500"/>
            <a:ext cx="112776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Helmet Side:</a:t>
            </a:r>
            <a:endParaRPr lang="en-IN" sz="32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Sensor based trigger system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Buzzer system as alert for </a:t>
            </a:r>
            <a:r>
              <a:rPr lang="en-IN" sz="3200" dirty="0" err="1">
                <a:solidFill>
                  <a:schemeClr val="bg1"/>
                </a:solidFill>
              </a:rPr>
              <a:t>drowsyness</a:t>
            </a:r>
            <a:endParaRPr lang="en-IN" sz="32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Automatic alcohol and drowsiness monitoring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RF data transmission 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Vehicle Side:</a:t>
            </a:r>
            <a:endParaRPr lang="en-IN" sz="32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LCD display for live status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Visual alerts (LED indicator)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Buzzer for warning alerts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Relay control for ignition status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RF data receiver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39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99130" y="1076794"/>
            <a:ext cx="4460170" cy="1064866"/>
          </a:xfrm>
          <a:custGeom>
            <a:avLst/>
            <a:gdLst/>
            <a:ahLst/>
            <a:cxnLst/>
            <a:rect l="l" t="t" r="r" b="b"/>
            <a:pathLst>
              <a:path w="4460170" h="1064866">
                <a:moveTo>
                  <a:pt x="0" y="0"/>
                </a:moveTo>
                <a:lnTo>
                  <a:pt x="4460170" y="0"/>
                </a:lnTo>
                <a:lnTo>
                  <a:pt x="4460170" y="1064866"/>
                </a:lnTo>
                <a:lnTo>
                  <a:pt x="0" y="1064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115911"/>
            <a:ext cx="3688347" cy="986633"/>
          </a:xfrm>
          <a:custGeom>
            <a:avLst/>
            <a:gdLst/>
            <a:ahLst/>
            <a:cxnLst/>
            <a:rect l="l" t="t" r="r" b="b"/>
            <a:pathLst>
              <a:path w="3688347" h="986633">
                <a:moveTo>
                  <a:pt x="0" y="0"/>
                </a:moveTo>
                <a:lnTo>
                  <a:pt x="3688347" y="0"/>
                </a:lnTo>
                <a:lnTo>
                  <a:pt x="3688347" y="986633"/>
                </a:lnTo>
                <a:lnTo>
                  <a:pt x="0" y="986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00800" y="2017835"/>
            <a:ext cx="5008403" cy="111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138DF-686F-62E0-8041-9FCE9BC648D0}"/>
              </a:ext>
            </a:extLst>
          </p:cNvPr>
          <p:cNvSpPr txBox="1"/>
          <p:nvPr/>
        </p:nvSpPr>
        <p:spPr>
          <a:xfrm>
            <a:off x="614905" y="3814943"/>
            <a:ext cx="144018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Designed a smart safety system for two </a:t>
            </a:r>
            <a:r>
              <a:rPr lang="en-US" sz="3200" dirty="0" err="1">
                <a:solidFill>
                  <a:schemeClr val="bg1"/>
                </a:solidFill>
              </a:rPr>
              <a:t>wwheel</a:t>
            </a:r>
            <a:r>
              <a:rPr lang="en-US" sz="3200" dirty="0">
                <a:solidFill>
                  <a:schemeClr val="bg1"/>
                </a:solidFill>
              </a:rPr>
              <a:t> riders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Detects </a:t>
            </a:r>
            <a:r>
              <a:rPr lang="en-US" sz="3200" dirty="0" err="1">
                <a:solidFill>
                  <a:schemeClr val="bg1"/>
                </a:solidFill>
              </a:rPr>
              <a:t>alcohol,wear</a:t>
            </a:r>
            <a:r>
              <a:rPr lang="en-US" sz="3200" dirty="0">
                <a:solidFill>
                  <a:schemeClr val="bg1"/>
                </a:solidFill>
              </a:rPr>
              <a:t> detection and drowsiness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Uses wireless RF communication for live data transmission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Automatically blocks ignition if safety rules are </a:t>
            </a:r>
            <a:r>
              <a:rPr lang="en-US" sz="3200" dirty="0" err="1">
                <a:solidFill>
                  <a:schemeClr val="bg1"/>
                </a:solidFill>
              </a:rPr>
              <a:t>breaked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Alerts rider using buzzer and display indicators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System is low cost, portable, and scalable</a:t>
            </a:r>
          </a:p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FAC00BE-12A4-BF79-2CFB-0CEDAD929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safety system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two-wheel riders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helmet wear status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drowsiness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RF communication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live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blocks ignition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safety rules are violated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rider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 and display indications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low-cost, portable, and scalable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8FC8BEA-29A4-AEC3-3841-C8EC9BBF1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safety system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two-wheel riders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helmet wear status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drowsiness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RF communication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live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blocks ignition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safety rules are violated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rider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 and display indications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low-cost, portable, and scalable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37FECDE-15C0-4233-AA1F-E72FF0D25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safety system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two-wheel riders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helmet wear status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drowsiness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RF communication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live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blocks ignition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safety rules are violated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rider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 and display indications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low-cost, portable, and scalable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9691E72-B2E0-F0D3-A9D2-6021F0E1E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safety system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two-wheel riders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helmet wear status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drowsiness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RF communication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live data transmission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blocks ignition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safety rules are violated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rider using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 and display indications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low-cost, portable, and scalable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595</Words>
  <Application>Microsoft Office PowerPoint</Application>
  <PresentationFormat>Custom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Open Sans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Anveshan - Final Round Presentation Template</dc:title>
  <dc:creator>Shwetha</dc:creator>
  <cp:lastModifiedBy>Shwetha K</cp:lastModifiedBy>
  <cp:revision>2</cp:revision>
  <dcterms:created xsi:type="dcterms:W3CDTF">2006-08-16T00:00:00Z</dcterms:created>
  <dcterms:modified xsi:type="dcterms:W3CDTF">2025-11-16T05:10:36Z</dcterms:modified>
  <dc:identifier>DAG4spOJcGY</dc:identifier>
</cp:coreProperties>
</file>